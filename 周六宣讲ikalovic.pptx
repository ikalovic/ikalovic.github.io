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webp" ContentType="image/webp"/>
  <Override PartName="/ppt/media/image1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4" r:id="rId6"/>
    <p:sldId id="261" r:id="rId7"/>
    <p:sldId id="273" r:id="rId8"/>
    <p:sldId id="279" r:id="rId9"/>
    <p:sldId id="278" r:id="rId10"/>
    <p:sldId id="281" r:id="rId11"/>
    <p:sldId id="276" r:id="rId12"/>
    <p:sldId id="274" r:id="rId13"/>
    <p:sldId id="277" r:id="rId14"/>
    <p:sldId id="275" r:id="rId15"/>
    <p:sldId id="280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0A1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12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webp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webp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-C"/>
          <p:cNvPicPr>
            <a:picLocks noChangeAspect="1"/>
          </p:cNvPicPr>
          <p:nvPr/>
        </p:nvPicPr>
        <p:blipFill>
          <a:blip r:embed="rId2">
            <a:alphaModFix amt="11000"/>
            <a:lum bright="64000" contrast="-70000"/>
          </a:blip>
          <a:srcRect t="40647" b="4450"/>
          <a:stretch>
            <a:fillRect/>
          </a:stretch>
        </p:blipFill>
        <p:spPr>
          <a:xfrm>
            <a:off x="9228455" y="-114935"/>
            <a:ext cx="1905635" cy="7050405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48370" y="6111240"/>
            <a:ext cx="3266440" cy="260350"/>
          </a:xfrm>
        </p:spPr>
        <p:txBody>
          <a:bodyPr>
            <a:normAutofit fontScale="77500"/>
          </a:bodyPr>
          <a:lstStyle/>
          <a:p>
            <a:r>
              <a:rPr lang="zh-CN" altLang="en-US" sz="1200" dirty="0">
                <a:latin typeface="Novecento wide Medium" panose="00000605000000000000" charset="0"/>
                <a:cs typeface="Novecento wide Medium" panose="00000605000000000000" charset="0"/>
              </a:rPr>
              <a:t>目的是</a:t>
            </a:r>
            <a:r>
              <a:rPr lang="en-US" altLang="zh-CN" sz="1200" dirty="0">
                <a:latin typeface="Novecento wide Medium" panose="00000605000000000000" charset="0"/>
                <a:cs typeface="Novecento wide Medium" panose="00000605000000000000" charset="0"/>
              </a:rPr>
              <a:t>xxxx</a:t>
            </a:r>
            <a:endParaRPr lang="en-US" altLang="zh-CN" sz="1200" dirty="0">
              <a:latin typeface="Novecento wide Medium" panose="00000605000000000000" charset="0"/>
              <a:cs typeface="Novecento wide Medium" panose="00000605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238230" y="6203950"/>
            <a:ext cx="342900" cy="755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64485" y="1723390"/>
            <a:ext cx="64623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atin typeface="Source Han Sans Heavy" panose="020B0A00000000000000" charset="-122"/>
                <a:ea typeface="Source Han Sans Heavy" panose="020B0A00000000000000" charset="-122"/>
              </a:rPr>
              <a:t>对未来路径的一些</a:t>
            </a:r>
            <a:r>
              <a:rPr lang="zh-CN" altLang="en-US" sz="4800" dirty="0">
                <a:latin typeface="Source Han Sans Heavy" panose="020B0A00000000000000" charset="-122"/>
                <a:ea typeface="Source Han Sans Heavy" panose="020B0A00000000000000" charset="-122"/>
              </a:rPr>
              <a:t>看法</a:t>
            </a:r>
            <a:endParaRPr lang="zh-CN" altLang="en-US" sz="4800" dirty="0">
              <a:latin typeface="Source Han Sans Heavy" panose="020B0A00000000000000" charset="-122"/>
              <a:ea typeface="Source Han Sans Heavy" panose="020B0A00000000000000" charset="-122"/>
            </a:endParaRPr>
          </a:p>
        </p:txBody>
      </p:sp>
      <p:pic>
        <p:nvPicPr>
          <p:cNvPr id="8" name="图片 7" descr="R-C"/>
          <p:cNvPicPr>
            <a:picLocks noChangeAspect="1"/>
          </p:cNvPicPr>
          <p:nvPr/>
        </p:nvPicPr>
        <p:blipFill>
          <a:blip r:embed="rId2">
            <a:alphaModFix amt="11000"/>
            <a:lum bright="64000" contrast="-70000"/>
          </a:blip>
          <a:srcRect t="22089" b="4450"/>
          <a:stretch>
            <a:fillRect/>
          </a:stretch>
        </p:blipFill>
        <p:spPr>
          <a:xfrm rot="2160000">
            <a:off x="1223010" y="-2043430"/>
            <a:ext cx="1905635" cy="943356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3810" y="3060700"/>
            <a:ext cx="4741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主讲人：朱威豪</a:t>
            </a:r>
            <a:r>
              <a:rPr lang="en-US" altLang="zh-CN"/>
              <a:t>(ikalovic)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081270" y="2459355"/>
            <a:ext cx="2126615" cy="21170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2663825" y="-24765"/>
            <a:ext cx="6910705" cy="69297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720975" y="-40005"/>
            <a:ext cx="6882130" cy="68967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道具_带框_至纯源石"/>
          <p:cNvPicPr>
            <a:picLocks noChangeAspect="1"/>
          </p:cNvPicPr>
          <p:nvPr/>
        </p:nvPicPr>
        <p:blipFill>
          <a:blip r:embed="rId2">
            <a:grayscl/>
            <a:lum bright="-66000" contrast="12000"/>
          </a:blip>
          <a:stretch>
            <a:fillRect/>
          </a:stretch>
        </p:blipFill>
        <p:spPr>
          <a:xfrm>
            <a:off x="5290820" y="2646045"/>
            <a:ext cx="1743075" cy="17430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文本框 15"/>
          <p:cNvSpPr txBox="1"/>
          <p:nvPr/>
        </p:nvSpPr>
        <p:spPr>
          <a:xfrm>
            <a:off x="5125085" y="2730500"/>
            <a:ext cx="2038350" cy="1263015"/>
          </a:xfrm>
          <a:prstGeom prst="rect">
            <a:avLst/>
          </a:prstGeom>
          <a:noFill/>
        </p:spPr>
        <p:txBody>
          <a:bodyPr wrap="square" lIns="46990" tIns="46990" rIns="46990" bIns="46990" rtlCol="0" anchor="ctr" anchorCtr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HELLO</a:t>
            </a:r>
            <a:endParaRPr lang="en-US" altLang="zh-CN" sz="40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WORLD</a:t>
            </a:r>
            <a:endParaRPr lang="en-US" altLang="zh-CN" sz="36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-2919730" y="3013075"/>
            <a:ext cx="2926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highlight>
                  <a:srgbClr val="FFFF00"/>
                </a:highlight>
              </a:rPr>
              <a:t>可以放一些介绍图片或文字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42565" y="-365760"/>
            <a:ext cx="319405" cy="17018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238230" y="6203950"/>
            <a:ext cx="342900" cy="755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203575" y="3530600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H="1" flipV="1">
            <a:off x="2499995" y="2826385"/>
            <a:ext cx="730250" cy="7308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74370" y="2830195"/>
            <a:ext cx="18351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61035" y="2458085"/>
            <a:ext cx="2207260" cy="64516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zh-CN" dirty="0">
                <a:latin typeface="Novecento wide Bold" panose="00000805000000000000" charset="0"/>
                <a:cs typeface="Novecento wide Bold" panose="00000805000000000000" charset="0"/>
              </a:rPr>
              <a:t>PART.1  </a:t>
            </a:r>
            <a:r>
              <a:rPr lang="zh-CN" altLang="en-US" dirty="0">
                <a:latin typeface="Novecento wide Bold" panose="00000805000000000000" charset="0"/>
                <a:cs typeface="Novecento wide Bold" panose="00000805000000000000" charset="0"/>
              </a:rPr>
              <a:t>读研（考研</a:t>
            </a:r>
            <a:r>
              <a:rPr lang="en-US" altLang="zh-CN" dirty="0">
                <a:latin typeface="Novecento wide Bold" panose="00000805000000000000" charset="0"/>
                <a:cs typeface="Novecento wide Bold" panose="00000805000000000000" charset="0"/>
              </a:rPr>
              <a:t>or</a:t>
            </a:r>
            <a:r>
              <a:rPr lang="zh-CN" altLang="en-US" dirty="0">
                <a:latin typeface="Novecento wide Bold" panose="00000805000000000000" charset="0"/>
                <a:cs typeface="Novecento wide Bold" panose="00000805000000000000" charset="0"/>
              </a:rPr>
              <a:t>保研</a:t>
            </a:r>
            <a:r>
              <a:rPr lang="en-US" altLang="zh-CN" dirty="0">
                <a:latin typeface="Novecento wide Bold" panose="00000805000000000000" charset="0"/>
                <a:cs typeface="Novecento wide Bold" panose="00000805000000000000" charset="0"/>
              </a:rPr>
              <a:t>)</a:t>
            </a:r>
            <a:endParaRPr lang="en-US" altLang="zh-CN" dirty="0"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23240" y="2314575"/>
            <a:ext cx="76200" cy="183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5400000">
            <a:off x="616585" y="2146300"/>
            <a:ext cx="76200" cy="26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362315" y="4155440"/>
            <a:ext cx="76200" cy="76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 flipH="1" flipV="1">
            <a:off x="8420100" y="4227195"/>
            <a:ext cx="537845" cy="5391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8956040" y="4767580"/>
            <a:ext cx="18351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8804910" y="4251960"/>
            <a:ext cx="76200" cy="183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 rot="5400000">
            <a:off x="8898255" y="4083685"/>
            <a:ext cx="76200" cy="26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8956040" y="4398010"/>
            <a:ext cx="2207260" cy="64516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zh-CN" dirty="0">
                <a:latin typeface="Novecento wide Bold" panose="00000805000000000000" charset="0"/>
                <a:cs typeface="Novecento wide Bold" panose="00000805000000000000" charset="0"/>
              </a:rPr>
              <a:t>PART.2 </a:t>
            </a:r>
            <a:r>
              <a:rPr lang="zh-CN" altLang="en-US" dirty="0">
                <a:latin typeface="Novecento wide Bold" panose="00000805000000000000" charset="0"/>
                <a:cs typeface="Novecento wide Bold" panose="00000805000000000000" charset="0"/>
              </a:rPr>
              <a:t>本科工作（企业</a:t>
            </a:r>
            <a:r>
              <a:rPr lang="en-US" altLang="zh-CN" dirty="0">
                <a:latin typeface="Novecento wide Bold" panose="00000805000000000000" charset="0"/>
                <a:cs typeface="Novecento wide Bold" panose="00000805000000000000" charset="0"/>
              </a:rPr>
              <a:t>or</a:t>
            </a:r>
            <a:r>
              <a:rPr lang="zh-CN" altLang="en-US" dirty="0">
                <a:latin typeface="Novecento wide Bold" panose="00000805000000000000" charset="0"/>
                <a:cs typeface="Novecento wide Bold" panose="00000805000000000000" charset="0"/>
              </a:rPr>
              <a:t>考公）</a:t>
            </a:r>
            <a:r>
              <a:rPr lang="en-US" altLang="zh-CN" dirty="0">
                <a:latin typeface="Novecento wide Bold" panose="00000805000000000000" charset="0"/>
                <a:cs typeface="Novecento wide Bold" panose="00000805000000000000" charset="0"/>
              </a:rPr>
              <a:t> </a:t>
            </a:r>
            <a:endParaRPr lang="en-US" altLang="zh-CN" dirty="0"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 flipH="1">
            <a:off x="1131570" y="-193327"/>
            <a:ext cx="8890" cy="7096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2243" y="2335530"/>
            <a:ext cx="2694305" cy="21170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04177" y="2410460"/>
            <a:ext cx="2038350" cy="1940560"/>
          </a:xfrm>
          <a:prstGeom prst="rect">
            <a:avLst/>
          </a:prstGeom>
          <a:noFill/>
        </p:spPr>
        <p:txBody>
          <a:bodyPr wrap="square" lIns="46990" tIns="46990" rIns="46990" bIns="46990" rtlCol="0" anchor="ctr" anchorCtr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对于保研的一些</a:t>
            </a:r>
            <a:r>
              <a:rPr lang="zh-CN" altLang="en-US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看法</a:t>
            </a:r>
            <a:endParaRPr lang="zh-CN" altLang="en-US" sz="40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3487" y="2141640"/>
            <a:ext cx="1357630" cy="272415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flipV="1">
            <a:off x="-49530" y="2335530"/>
            <a:ext cx="76200" cy="2090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823606" y="1219446"/>
            <a:ext cx="767502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这里分享一个学长学姐们经营的美味网站，珞珈晚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邮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https://yuangpeng.notion.site/875b064c3f29490fa1a940403e4ab11b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，里面有着学长学姐们的保研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经验：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保研，分为两步，第一步是取得预推免资格，第二步是夏令营（主要是针对保外校，保本校的话基本是点击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即送）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首先是预推免资格，也就是大家熟知的保研率。我们院的保研率最高有过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40%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，去掉实验班后，普通班大概有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20%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多的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保研率。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那么，应该怎么取得预推免资格呢？这里的预推免资格主要涉及到三个方面：绩点，竞赛，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科研。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绩点大家应该不陌生，就是你的课程成绩。而竞赛可以看我下面的这张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图片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flipV="1">
            <a:off x="-49530" y="2335530"/>
            <a:ext cx="76200" cy="2090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123825"/>
            <a:ext cx="7543800" cy="710565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7543800" y="87630"/>
            <a:ext cx="5487035" cy="6770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69215"/>
            <a:ext cx="5367655" cy="6393180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5367655" y="0"/>
            <a:ext cx="5712460" cy="235140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4"/>
          <a:stretch>
            <a:fillRect/>
          </a:stretch>
        </p:blipFill>
        <p:spPr>
          <a:xfrm>
            <a:off x="5525770" y="2351405"/>
            <a:ext cx="5850890" cy="4312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 flipH="1">
            <a:off x="1131570" y="-193327"/>
            <a:ext cx="8890" cy="7096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2243" y="2335530"/>
            <a:ext cx="2694305" cy="21170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04177" y="2410460"/>
            <a:ext cx="2038350" cy="1940560"/>
          </a:xfrm>
          <a:prstGeom prst="rect">
            <a:avLst/>
          </a:prstGeom>
          <a:noFill/>
        </p:spPr>
        <p:txBody>
          <a:bodyPr wrap="square" lIns="46990" tIns="46990" rIns="46990" bIns="46990" rtlCol="0" anchor="ctr" anchorCtr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保研的一些</a:t>
            </a:r>
            <a:r>
              <a:rPr lang="zh-CN" altLang="en-US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分享</a:t>
            </a:r>
            <a:endParaRPr lang="zh-CN" altLang="en-US" sz="40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3487" y="2141640"/>
            <a:ext cx="1357630" cy="272415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flipV="1">
            <a:off x="-49530" y="2335530"/>
            <a:ext cx="76200" cy="2090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505199" y="845820"/>
            <a:ext cx="76750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竞赛加分对于保研而言其实是十分重要</a:t>
            </a:r>
            <a:r>
              <a:rPr lang="zh-CN" altLang="en-US" dirty="0"/>
              <a:t>的。</a:t>
            </a:r>
            <a:endParaRPr lang="zh-CN" altLang="en-US" dirty="0"/>
          </a:p>
          <a:p>
            <a:r>
              <a:rPr lang="zh-CN" altLang="en-US" dirty="0"/>
              <a:t>竞赛加分一共</a:t>
            </a:r>
            <a:r>
              <a:rPr lang="en-US" altLang="zh-CN" dirty="0"/>
              <a:t>100</a:t>
            </a:r>
            <a:r>
              <a:rPr lang="zh-CN" altLang="en-US" dirty="0"/>
              <a:t>分，换算过来等同于</a:t>
            </a:r>
            <a:r>
              <a:rPr lang="en-US" altLang="zh-CN" dirty="0"/>
              <a:t>0.5</a:t>
            </a:r>
            <a:r>
              <a:rPr lang="zh-CN" altLang="en-US" dirty="0"/>
              <a:t>绩点。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偷偷告诉大家，</a:t>
            </a:r>
            <a:r>
              <a:rPr lang="en-US" altLang="zh-CN" dirty="0"/>
              <a:t>22</a:t>
            </a:r>
            <a:r>
              <a:rPr lang="zh-CN" altLang="en-US" dirty="0"/>
              <a:t>级信安裸绩点</a:t>
            </a:r>
            <a:r>
              <a:rPr lang="en-US" altLang="zh-CN" dirty="0"/>
              <a:t>3.97</a:t>
            </a:r>
            <a:r>
              <a:rPr lang="zh-CN" altLang="en-US" dirty="0"/>
              <a:t>是保不了研的（明白竞赛加分有多重要了</a:t>
            </a:r>
            <a:r>
              <a:rPr lang="zh-CN" altLang="en-US" dirty="0"/>
              <a:t>吗）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至于科研加分，那个难度就大很多了，需要你本科阶段就联系导师，做项目，</a:t>
            </a:r>
            <a:r>
              <a:rPr lang="zh-CN" altLang="en-US" dirty="0"/>
              <a:t>发论文。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有兴趣的同学可以上我们学院官网，那里有老师的邮箱，挺多老师是有招本科生的，有些老师主页上就写着招人，大家可以往老师邮箱里面发送个人简历。（当然，前提是你得有个体面一点的简历。绩点一定要</a:t>
            </a:r>
            <a:r>
              <a:rPr lang="zh-CN" altLang="en-US" dirty="0"/>
              <a:t>好看）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 flipH="1">
            <a:off x="1131570" y="-193327"/>
            <a:ext cx="8890" cy="7096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2243" y="2335530"/>
            <a:ext cx="2694305" cy="21170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04177" y="2749232"/>
            <a:ext cx="2038350" cy="1263015"/>
          </a:xfrm>
          <a:prstGeom prst="rect">
            <a:avLst/>
          </a:prstGeom>
          <a:noFill/>
        </p:spPr>
        <p:txBody>
          <a:bodyPr wrap="square" lIns="46990" tIns="46990" rIns="46990" bIns="46990" rtlCol="0" anchor="ctr" anchorCtr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HELLO</a:t>
            </a:r>
            <a:endParaRPr lang="en-US" altLang="zh-CN" sz="40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保研</a:t>
            </a:r>
            <a:endParaRPr lang="zh-CN" altLang="en-US" sz="36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3487" y="2141640"/>
            <a:ext cx="1357630" cy="272415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flipV="1">
            <a:off x="-49530" y="2335530"/>
            <a:ext cx="76200" cy="2090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534695" y="958646"/>
            <a:ext cx="76750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确定能获得预推免资格后，如果你只想要保本校的话基本也不需要努力了。当然，如果你想保外校的话，预推免资格只是最简单的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一步。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接下来，你需要去和目标学校你想跟的导师套关系（俗称套瓷，方法也是发邮件），参加你想去的学校的夏令营（一般会在学校官网上发通知），通过那里的笔试和面试，然后和老师双选，如果选中，那么恭喜你，保研成功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了！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 flipH="1">
            <a:off x="1131570" y="-193327"/>
            <a:ext cx="8890" cy="7096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2243" y="2335530"/>
            <a:ext cx="2694305" cy="21170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04177" y="2749232"/>
            <a:ext cx="2038350" cy="1263015"/>
          </a:xfrm>
          <a:prstGeom prst="rect">
            <a:avLst/>
          </a:prstGeom>
          <a:noFill/>
        </p:spPr>
        <p:txBody>
          <a:bodyPr wrap="square" lIns="46990" tIns="46990" rIns="46990" bIns="46990" rtlCol="0" anchor="ctr" anchorCtr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HELLO</a:t>
            </a:r>
            <a:endParaRPr lang="en-US" altLang="zh-CN" sz="40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考研</a:t>
            </a:r>
            <a:endParaRPr lang="zh-CN" altLang="en-US" sz="36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3487" y="2141640"/>
            <a:ext cx="1357630" cy="272415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flipV="1">
            <a:off x="-49530" y="2335530"/>
            <a:ext cx="76200" cy="2090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998032" y="168970"/>
            <a:ext cx="9053631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主播主播，如果我的绩点很难看也没什么竞赛经历，但还是想读研究生怎么办？有没有更简单易懂的方法</a:t>
            </a:r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推荐？</a:t>
            </a:r>
            <a:endParaRPr lang="zh-CN" altLang="en-US" dirty="0" err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 err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有的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xd</a:t>
            </a:r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有的，那就是</a:t>
            </a:r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考研。</a:t>
            </a:r>
            <a:endParaRPr lang="zh-CN" altLang="en-US" dirty="0" err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 err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考试组成：初试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复试</a:t>
            </a:r>
            <a:endParaRPr lang="zh-CN" altLang="en-US" dirty="0" err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考试科目：分为公共课和专业课，公共课为政治、外语、数学；专业课为全国统考专业课（极少数专业）和学校自命题专业课（绝大多数专业）。</a:t>
            </a:r>
            <a:endParaRPr lang="zh-CN" altLang="en-US" dirty="0" err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 err="1">
                <a:latin typeface="黑体" panose="02010609060101010101" pitchFamily="49" charset="-122"/>
                <a:ea typeface="黑体" panose="02010609060101010101" pitchFamily="49" charset="-122"/>
              </a:rPr>
              <a:t>全国统考专业课：教育学基础综合、计算机基础综合、心理学基础综合、历史学基础综合等</a:t>
            </a:r>
            <a:endParaRPr lang="zh-CN" altLang="en-US" dirty="0" err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2992755" y="2917190"/>
            <a:ext cx="8596630" cy="28428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53385" y="5883910"/>
            <a:ext cx="8509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复试的内容主要有专业课笔试、专业面试、英语面试，有些学校还会组织单独的英语笔试。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 flipH="1">
            <a:off x="1131570" y="-193327"/>
            <a:ext cx="8890" cy="7096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2243" y="2335530"/>
            <a:ext cx="2694305" cy="21170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04177" y="2749232"/>
            <a:ext cx="2038350" cy="1263015"/>
          </a:xfrm>
          <a:prstGeom prst="rect">
            <a:avLst/>
          </a:prstGeom>
          <a:noFill/>
        </p:spPr>
        <p:txBody>
          <a:bodyPr wrap="square" lIns="46990" tIns="46990" rIns="46990" bIns="46990" rtlCol="0" anchor="ctr" anchorCtr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HELLO</a:t>
            </a:r>
            <a:endParaRPr lang="en-US" altLang="zh-CN" sz="40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考研</a:t>
            </a:r>
            <a:endParaRPr lang="zh-CN" altLang="en-US" sz="36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3487" y="2141640"/>
            <a:ext cx="1357630" cy="272415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flipV="1">
            <a:off x="-49530" y="2335530"/>
            <a:ext cx="76200" cy="2090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2880360" y="0"/>
            <a:ext cx="483489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926070" y="200660"/>
            <a:ext cx="37147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注意，不同于高考先考试再选择院校，考研是先选择院校再进行考试，具体流程可以看左边的</a:t>
            </a:r>
            <a:r>
              <a:rPr lang="zh-CN" altLang="en-US"/>
              <a:t>图片。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976870" y="1364615"/>
            <a:ext cx="37465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考研不限制你的专业，也就是说你可以跨考（比如说你电子信息类可以考计算机类的研究生），只要你能过</a:t>
            </a:r>
            <a:r>
              <a:rPr lang="zh-CN" altLang="en-US"/>
              <a:t>就行。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 flipH="1">
            <a:off x="1131570" y="-193327"/>
            <a:ext cx="8890" cy="7096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2243" y="2335530"/>
            <a:ext cx="2694305" cy="21170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04177" y="2749232"/>
            <a:ext cx="2038350" cy="1263015"/>
          </a:xfrm>
          <a:prstGeom prst="rect">
            <a:avLst/>
          </a:prstGeom>
          <a:noFill/>
        </p:spPr>
        <p:txBody>
          <a:bodyPr wrap="square" lIns="46990" tIns="46990" rIns="46990" bIns="46990" rtlCol="0" anchor="ctr" anchorCtr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HELLO</a:t>
            </a:r>
            <a:endParaRPr lang="en-US" altLang="zh-CN" sz="40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就业</a:t>
            </a:r>
            <a:endParaRPr lang="zh-CN" altLang="en-US" sz="36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3487" y="2141640"/>
            <a:ext cx="1357630" cy="272415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flipV="1">
            <a:off x="-49530" y="2335530"/>
            <a:ext cx="76200" cy="2090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542829" y="687123"/>
            <a:ext cx="76750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主播主播，我不想搞学术，不想读研了，该</a:t>
            </a:r>
            <a:r>
              <a:rPr lang="zh-CN" altLang="en-US" dirty="0"/>
              <a:t>怎么办？</a:t>
            </a:r>
            <a:endParaRPr lang="zh-CN" altLang="en-US" dirty="0"/>
          </a:p>
          <a:p>
            <a:r>
              <a:rPr lang="zh-CN" altLang="en-US" dirty="0"/>
              <a:t>有方法的</a:t>
            </a:r>
            <a:r>
              <a:rPr lang="en-US" altLang="zh-CN" dirty="0"/>
              <a:t>xd</a:t>
            </a:r>
            <a:r>
              <a:rPr lang="zh-CN" altLang="en-US" dirty="0"/>
              <a:t>有方法的，</a:t>
            </a:r>
            <a:r>
              <a:rPr lang="zh-CN" altLang="en-US" dirty="0"/>
              <a:t>那就是本科</a:t>
            </a:r>
            <a:r>
              <a:rPr lang="zh-CN" altLang="en-US" dirty="0"/>
              <a:t>就业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542665" y="1682115"/>
            <a:ext cx="57251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本科就业最看重的是你的实习经历，其次是项目经验以及竞赛经历，基本是不会看你的绩点的。（甚至不会卡你专业，你网安去抢计</a:t>
            </a:r>
            <a:r>
              <a:rPr lang="zh-CN" altLang="en-US"/>
              <a:t>科的饭碗是完全</a:t>
            </a:r>
            <a:r>
              <a:rPr lang="en-US" altLang="zh-CN"/>
              <a:t>ok</a:t>
            </a:r>
            <a:r>
              <a:rPr lang="zh-CN" altLang="en-US"/>
              <a:t>的，只要你计算机实力够</a:t>
            </a:r>
            <a:r>
              <a:rPr lang="zh-CN" altLang="en-US"/>
              <a:t>就行）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650615" y="3258820"/>
            <a:ext cx="5545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首先在这里提醒大家，网安作为计算机的一个小方向，相关的就业岗位是没有计科那么多的，所以完全对口的实习其实也并不好找，到头来大部分人其实还是抢计算机</a:t>
            </a:r>
            <a:r>
              <a:rPr lang="zh-CN" altLang="en-US"/>
              <a:t>的饭碗。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671570" y="4952365"/>
            <a:ext cx="5672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我个人的建议是大一打竞赛，学习技术，使自己简历</a:t>
            </a:r>
            <a:r>
              <a:rPr lang="zh-CN" altLang="en-US"/>
              <a:t>好看点，然后大二</a:t>
            </a:r>
            <a:r>
              <a:rPr lang="zh-CN" altLang="en-US"/>
              <a:t>大三的暑假出去</a:t>
            </a:r>
            <a:r>
              <a:rPr lang="zh-CN" altLang="en-US"/>
              <a:t>实习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 flipH="1">
            <a:off x="1131570" y="-193327"/>
            <a:ext cx="8890" cy="7096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2243" y="2335530"/>
            <a:ext cx="2694305" cy="21170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04177" y="2749232"/>
            <a:ext cx="2038350" cy="1263015"/>
          </a:xfrm>
          <a:prstGeom prst="rect">
            <a:avLst/>
          </a:prstGeom>
          <a:noFill/>
        </p:spPr>
        <p:txBody>
          <a:bodyPr wrap="square" lIns="46990" tIns="46990" rIns="46990" bIns="46990" rtlCol="0" anchor="ctr" anchorCtr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HELLO</a:t>
            </a:r>
            <a:endParaRPr lang="en-US" altLang="zh-CN" sz="40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对口工作</a:t>
            </a:r>
            <a:endParaRPr lang="zh-CN" altLang="en-US" sz="36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3487" y="2141640"/>
            <a:ext cx="1357630" cy="272415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flipV="1">
            <a:off x="-49530" y="2335530"/>
            <a:ext cx="76200" cy="2090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642299" y="595917"/>
            <a:ext cx="7675020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1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、公安局、网信办、保密局、国安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工作压力大，有编，管理严格，基本要党员或应届生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2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、省直单位信息中心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招聘要求高，有编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3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、市直单位信息中心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性价比不错，有编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4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、网安应急指挥中心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工作压力大，有编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4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、军队文职、直招军官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工作压力大、加班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5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、从小学到高中的信息技术教师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一般要教师资格证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6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、高校网信中心、医院信息科、档案馆、图书馆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一般是合同制，无编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7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、长江委、黄河委、珠江委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只要应届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8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、长航局、航道管理局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基本只要应届生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9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、职业技术学院、职业技术大学的网安专业老师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要会实操，不能只会理论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10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、大学的信息安全实验员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要会实操，只会理论不行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11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、银行技术岗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(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非柜员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)=&gt;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要求高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(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一般会要有工作经验或实习经验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)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12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CNITSEC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网安岗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有编、安排北京户口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13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CERT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各省分中心网安岗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有编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14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、三大运营商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看学历，待遇一般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15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、军工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无笔试、能面试基本就能拿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offer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16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、报业传媒、电视台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国企合同，无编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17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、烟草、电网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=&gt;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完全垄断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(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唯一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)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、待遇好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18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、人才引进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(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给编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):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省直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(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博士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)&gt;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市直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(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硕士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)&gt;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区县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(</a:t>
            </a:r>
            <a:r>
              <a:rPr lang="zh-CN" altLang="en-US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穷地方会要本科</a:t>
            </a:r>
            <a:r>
              <a:rPr lang="en-US" altLang="zh-CN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)</a:t>
            </a:r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endParaRPr lang="en-US" altLang="zh-CN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 flipH="1">
            <a:off x="1131570" y="-193327"/>
            <a:ext cx="8890" cy="7096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62243" y="2335530"/>
            <a:ext cx="2694305" cy="21170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04177" y="2749232"/>
            <a:ext cx="2038350" cy="1263015"/>
          </a:xfrm>
          <a:prstGeom prst="rect">
            <a:avLst/>
          </a:prstGeom>
          <a:noFill/>
        </p:spPr>
        <p:txBody>
          <a:bodyPr wrap="square" lIns="46990" tIns="46990" rIns="46990" bIns="46990" rtlCol="0" anchor="ctr" anchorCtr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HELLO</a:t>
            </a:r>
            <a:endParaRPr lang="en-US" altLang="zh-CN" sz="40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Novecento wide Bold" panose="00000805000000000000" charset="0"/>
                <a:cs typeface="Novecento wide Bold" panose="00000805000000000000" charset="0"/>
              </a:rPr>
              <a:t>考公</a:t>
            </a:r>
            <a:endParaRPr lang="zh-CN" altLang="en-US" sz="3600" b="1" dirty="0">
              <a:solidFill>
                <a:schemeClr val="bg1"/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3487" y="2141640"/>
            <a:ext cx="1357630" cy="272415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flipV="1">
            <a:off x="-49530" y="2335530"/>
            <a:ext cx="76200" cy="2090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448910" y="2914074"/>
            <a:ext cx="8188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本人对考公没有什么了解，同学们可以去自行查阅有关资料喵。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NzAzYjYzNzI1MzUyYTQ0YjZkNmEyMmM5MzQzZmQzY2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2013</Words>
  <Application>WPS 演示</Application>
  <PresentationFormat>宽屏</PresentationFormat>
  <Paragraphs>132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Novecento wide Medium</vt:lpstr>
      <vt:lpstr>Segoe Print</vt:lpstr>
      <vt:lpstr>Source Han Sans Heavy</vt:lpstr>
      <vt:lpstr>Novecento wide Bold</vt:lpstr>
      <vt:lpstr>方正小标宋简体</vt:lpstr>
      <vt:lpstr>黑体</vt:lpstr>
      <vt:lpstr>微软雅黑</vt:lpstr>
      <vt:lpstr>Calibri</vt:lpstr>
      <vt:lpstr>Arial Unicode MS</vt:lpstr>
      <vt:lpstr>Source Han Sans Bold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zhuzhu</cp:lastModifiedBy>
  <cp:revision>58</cp:revision>
  <dcterms:created xsi:type="dcterms:W3CDTF">2022-05-16T07:12:00Z</dcterms:created>
  <dcterms:modified xsi:type="dcterms:W3CDTF">2025-11-21T10:51:25Z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816161F786DD43A3B3312AEA9E114B0B</vt:lpwstr>
  </property>
  <property fmtid="{D5CDD505-2E9C-101B-9397-08002B2CF9AE}" pid="3" name="KSOProductBuildVer">
    <vt:lpwstr>2052-12.1.0.23542</vt:lpwstr>
  </property>
</Properties>
</file>